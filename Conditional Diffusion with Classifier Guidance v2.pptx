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Sören Toschek-Unib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7600B9-7A7C-455E-9237-45FD3CA08605}">
  <a:tblStyle styleId="{497600B9-7A7C-455E-9237-45FD3CA086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5T08:03:46.131">
    <p:pos x="196" y="725"/>
    <p:text>Idee #1: Accuracy vs. Classifier grad. Scale
Idee #2: fidelity / diversity vs. classifier Grad. scale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25T09:30:17.118">
    <p:pos x="196" y="725"/>
    <p:text>fidelity, measured by Inception Score (IS)
variety, measured by recall</p:text>
  </p:cm>
  <p:cm authorId="0" idx="3" dt="2026-05-25T10:14:21.575">
    <p:pos x="837" y="1857"/>
    <p:text>Original figure aus dem Paper,
muss in die References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5c430f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5c430f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b33226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b33226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55b5f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55b5f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b3322643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b332264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b33226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b33226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655b5f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655b5f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b56b55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b56b55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8b3322643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8b332264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b3322643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8b3322643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b56b55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b56b55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655b5f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4655b5f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Conditional Diffusion with Classifier Guidance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Jan Walliser, Sören Toschek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Reference paper: “Diffusion Models Beat GANs on Image Synthesis”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Guidance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Gradient 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Model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Experimental Setup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Results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Guidance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Can be applied during sampling of a diffusion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predicted mean            is shifted towards gradients of classifier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I.e. </a:t>
            </a:r>
            <a:endParaRPr/>
          </a:p>
        </p:txBody>
      </p:sp>
      <p:pic>
        <p:nvPicPr>
          <p:cNvPr id="68" name="Google Shape;68;p15" title="Screenshot 2026-05-25 at 10.49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71750"/>
            <a:ext cx="4797450" cy="160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2950" y="1537373"/>
            <a:ext cx="651000" cy="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Gradient Scaling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Multiply gradient of the classifier network by a constant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stronger classifier guidance improves precision, and decreases </a:t>
            </a:r>
            <a:r>
              <a:rPr lang="de"/>
              <a:t>recall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7125" y="1203125"/>
            <a:ext cx="647225" cy="32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5-25 at 12.05.43.png"/>
          <p:cNvPicPr preferRelativeResize="0"/>
          <p:nvPr/>
        </p:nvPicPr>
        <p:blipFill rotWithShape="1">
          <a:blip r:embed="rId5">
            <a:alphaModFix/>
          </a:blip>
          <a:srcRect b="0" l="0" r="0" t="3735"/>
          <a:stretch/>
        </p:blipFill>
        <p:spPr>
          <a:xfrm>
            <a:off x="1330200" y="2948600"/>
            <a:ext cx="2277325" cy="180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1100" y="1613124"/>
            <a:ext cx="6682750" cy="4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8275" y="1967850"/>
            <a:ext cx="206170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532275" y="4645650"/>
            <a:ext cx="5799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2"/>
                </a:solidFill>
              </a:rPr>
              <a:t>Ref. 1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Diffusion Model Architecture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 title="Screenshot 2026-05-25 at 15.28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" y="1715973"/>
            <a:ext cx="5574200" cy="24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 / training objective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Use MSE loss: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classifier: </a:t>
            </a:r>
            <a:r>
              <a:rPr lang="de"/>
              <a:t>30,480,010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diffusion-net: 41,412,771 parameters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425" y="1152475"/>
            <a:ext cx="2139600" cy="5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noisy-image classifier accuracy by exact diffusion timeste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50" y="2170525"/>
            <a:ext cx="5351351" cy="29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architecture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UNet, residual convolutional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architecture: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CNN with skip connections with attention pooling at the 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Attention pooling on 16x16 and 8x8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map each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Experimental Setup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400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Dataset: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CIFAR-10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Resolution: 32x32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Evaluated Classes: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airplane (0)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automobile (1)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dog (5)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ship (8) 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572000" y="1152475"/>
            <a:ext cx="4002300" cy="3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Sampling Configuration: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1000 generated samples per class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1000 DDPM sampling timesteps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Guidance scales (constant):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s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s =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s =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Evaluation: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Fréchet Inception Distance (FID)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de"/>
              <a:t>CIFAR-10 train vs test FID as baseline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50725" y="1118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FID Results — Constant Guidance Scale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000"/>
              <a:t>Lower = Better</a:t>
            </a:r>
            <a:endParaRPr sz="800"/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{497600B9-7A7C-455E-9237-45FD3CA08605}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Class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Baseline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Scale 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Scale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Scale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airplane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36.38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126.95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67.35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78.62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26.56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138.27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49.32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48.09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dog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39.34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107.65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79.44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95.01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ship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31.05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143.17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45.67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48.97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376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 title="sin^2vs s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68600"/>
            <a:ext cx="3855199" cy="257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30305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FID Results — Dynamic Guidance Scale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6600" y="445025"/>
            <a:ext cx="2290800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2"/>
          <p:cNvGraphicFramePr/>
          <p:nvPr/>
        </p:nvGraphicFramePr>
        <p:xfrm>
          <a:off x="4303050" y="155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{497600B9-7A7C-455E-9237-45FD3CA08605}</a:tableStyleId>
              </a:tblPr>
              <a:tblGrid>
                <a:gridCol w="700300"/>
                <a:gridCol w="867575"/>
                <a:gridCol w="668600"/>
                <a:gridCol w="686725"/>
                <a:gridCol w="849450"/>
                <a:gridCol w="903200"/>
              </a:tblGrid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Airplane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Ship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Car(sin)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Ship(sin)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36.38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31.05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26.56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26.56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31.05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Const. s=5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rgbClr val="4A86E8"/>
                          </a:highlight>
                        </a:rPr>
                        <a:t>67.35</a:t>
                      </a:r>
                      <a:r>
                        <a:rPr lang="de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chemeClr val="accent1"/>
                          </a:highlight>
                        </a:rPr>
                        <a:t>45.67</a:t>
                      </a:r>
                      <a:endParaRPr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49.32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49.32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chemeClr val="accent1"/>
                          </a:highlight>
                        </a:rPr>
                        <a:t>45.67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Dyn. s=5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rgbClr val="00FF00"/>
                          </a:highlight>
                        </a:rPr>
                        <a:t>63.92 </a:t>
                      </a:r>
                      <a:endParaRPr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rgbClr val="FF0000"/>
                          </a:highlight>
                        </a:rPr>
                        <a:t>48.25</a:t>
                      </a:r>
                      <a:r>
                        <a:rPr lang="de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50.86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 50.24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47.00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Const. s=10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78.61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48.97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48.09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48.09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</a:rPr>
                        <a:t>48.97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Dyn. s=10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rgbClr val="FF0000"/>
                          </a:highlight>
                        </a:rPr>
                        <a:t>71.01</a:t>
                      </a:r>
                      <a:r>
                        <a:rPr lang="de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highlight>
                            <a:srgbClr val="00FF00"/>
                          </a:highlight>
                        </a:rPr>
                        <a:t>46.29</a:t>
                      </a:r>
                      <a:endParaRPr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chemeClr val="accent1"/>
                          </a:highlight>
                        </a:rPr>
                        <a:t>46.95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chemeClr val="accent1"/>
                          </a:highlight>
                        </a:rPr>
                        <a:t>47.16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47.04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 title="class_0_airplane_scale_comparison_x4_L1_S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3954" y="0"/>
            <a:ext cx="463215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class_8_ship_scale_comparison_x4_L1_S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146" y="0"/>
            <a:ext cx="463215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References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Dhariwal et al., 2021, </a:t>
            </a:r>
            <a:r>
              <a:rPr lang="de">
                <a:solidFill>
                  <a:schemeClr val="dk1"/>
                </a:solidFill>
              </a:rPr>
              <a:t>“Diffusion Models Beat GANs on Image Synthesis”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Ho et al., 2020, “</a:t>
            </a:r>
            <a:r>
              <a:rPr lang="de">
                <a:solidFill>
                  <a:schemeClr val="dk1"/>
                </a:solidFill>
              </a:rPr>
              <a:t>Denoising Diffusion Probabilistic Models”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Ho &amp; Salimans, 2022, “Classifier-free Diffusion Guidance”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